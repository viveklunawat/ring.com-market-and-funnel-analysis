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Ring.com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Performance Analysis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14884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January – December 2025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697480"/>
            <a:ext cx="3200400" cy="36576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3931920"/>
            <a:ext cx="1828800" cy="9144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57200" y="3977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146K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44074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560320" y="3931920"/>
            <a:ext cx="1828800" cy="9144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560320" y="3977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$3.33M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2560320" y="44074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663440" y="3931920"/>
            <a:ext cx="1828800" cy="9144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663440" y="3977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11.2K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663440" y="44074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766560" y="3931920"/>
            <a:ext cx="1828800" cy="9144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766560" y="3977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7.68%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766560" y="44074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Conversion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27432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7432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Story in Four Lines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274320" y="1188720"/>
            <a:ext cx="457200" cy="64008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274320" y="118872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68680" y="1207008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 Traffic, Low Conversion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68680" y="1490472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Ring.com attracted 146K sessions in 2025 generating $3.33M revenue — but only 7.68% of sessions resulted in a purchase, revealing a significant conversion gap.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74320" y="2103120"/>
            <a:ext cx="457200" cy="6400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274320" y="210312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68680" y="2121408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Page is the #1 Bottleneck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868680" y="2404872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43% of all sessions end on the product page without any further action. Once users pass this stage, 99% complete their purchase — making the product page the single biggest opportunity.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74320" y="3017520"/>
            <a:ext cx="457200" cy="6400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74320" y="301752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8680" y="3035808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 Now Click = 2.75x Higher Conversion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68680" y="3319272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Sessions where users clicked 'Buy Now' convert at 13.5% vs 4.9% for those that don't — the strongest behavioral intent signal in the dataset.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74320" y="3931920"/>
            <a:ext cx="457200" cy="64008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274320" y="393192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68680" y="3950208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Paid Social: High Volume, Low Efficiency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868680" y="4233672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Paid Social drives 38% of all sessions but has the lowest conversion rate. SMS and Affiliate deliver significantly better ROI despite lower volume.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27432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DATA 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27432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 the Dataset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274320" y="1188720"/>
            <a:ext cx="4114800" cy="74980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274320" y="1188720"/>
            <a:ext cx="54864" cy="749808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11480" y="126187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session_table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108960" y="126187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146,000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11480" y="157276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Traffic source, device, UTM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663440" y="1188720"/>
            <a:ext cx="4114800" cy="74980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663440" y="1188720"/>
            <a:ext cx="54864" cy="749808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800600" y="126187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pageview_table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7498080" y="126187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354,456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800600" y="157276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Page paths &amp; navigation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74320" y="2057400"/>
            <a:ext cx="4114800" cy="74980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274320" y="2057400"/>
            <a:ext cx="54864" cy="749808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11480" y="213055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click_table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108960" y="213055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204,752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11480" y="244144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CTA clicks &amp; element interactions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663440" y="2057400"/>
            <a:ext cx="4114800" cy="74980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663440" y="2057400"/>
            <a:ext cx="54864" cy="749808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4800600" y="213055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scroll_table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498080" y="213055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292,106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800600" y="244144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Scroll depth per page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74320" y="2926080"/>
            <a:ext cx="4114800" cy="74980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274320" y="2926080"/>
            <a:ext cx="54864" cy="749808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11480" y="299923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add_to_cart_table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108960" y="299923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25,133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11480" y="331012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Product add-to-cart events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663440" y="2926080"/>
            <a:ext cx="4114800" cy="74980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4663440" y="2926080"/>
            <a:ext cx="54864" cy="749808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800600" y="299923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order_table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498080" y="299923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11,206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800600" y="331012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Completed orders &amp; discounts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274320" y="3794760"/>
            <a:ext cx="4114800" cy="74980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274320" y="3794760"/>
            <a:ext cx="54864" cy="749808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11480" y="386791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order_line_item_table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108960" y="38679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22,406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11480" y="417880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Product-level order details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663440" y="3794760"/>
            <a:ext cx="4114800" cy="74980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663440" y="3794760"/>
            <a:ext cx="54864" cy="749808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800600" y="386791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user_table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498080" y="38679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102,435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800600" y="417880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User purchase history flags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Key Assumptions:  </a:t>
            </a: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Pageview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highest time for the session id is the last page </a:t>
            </a: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viewed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session_id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unique for different session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|  Discount = </a:t>
            </a: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% on the price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27432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TRAFFIC 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7432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 is Coming to Ring.com?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274320" y="1188720"/>
            <a:ext cx="1965960" cy="9144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274320" y="1261872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146K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74320" y="16916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Sessions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2423160" y="1188720"/>
            <a:ext cx="1965960" cy="9144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2423160" y="1261872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102K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423160" y="16916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Unique Users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572000" y="1188720"/>
            <a:ext cx="1965960" cy="9144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572000" y="1261872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50/50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572000" y="16916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Desktop / Mobile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720840" y="1188720"/>
            <a:ext cx="1965960" cy="9144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720840" y="1261872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70%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720840" y="16916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 Traffic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74320" y="22860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Sessions by Channel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606040"/>
            <a:ext cx="502920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5577840" y="22860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Session Trend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7840" y="2606040"/>
            <a:ext cx="3291840" cy="233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27432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USER PROFILE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Have the Traffic. Conversion is the Problem.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0"/>
            <a:ext cx="384048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4572000" y="1234440"/>
            <a:ext cx="4297680" cy="713232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572000" y="1234440"/>
            <a:ext cx="54864" cy="713232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709160" y="130759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102,435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709160" y="1636776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Tracked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572000" y="2075688"/>
            <a:ext cx="4297680" cy="713232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572000" y="2075688"/>
            <a:ext cx="54864" cy="71323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709160" y="21488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89.4%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709160" y="247802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Have NEVER purchased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572000" y="2916936"/>
            <a:ext cx="4297680" cy="713232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572000" y="2916936"/>
            <a:ext cx="54864" cy="71323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709160" y="299008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10.6%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709160" y="331927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Frequent / Active buyers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572000" y="3758184"/>
            <a:ext cx="4297680" cy="713232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572000" y="3758184"/>
            <a:ext cx="54864" cy="7132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709160" y="3831336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10,853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709160" y="416052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Unique users placed an order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11480" y="46908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Insight: The acquisition funnel is working — 102K users reached the site. The challenge is converting the 89% who never purchased.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27432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WHERE WE LOSE 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43% of Sessions Never Leave the Product Page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48640" y="1170432"/>
            <a:ext cx="7772400" cy="475488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548640" y="1170432"/>
            <a:ext cx="42748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Sessions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48640" y="1170432"/>
            <a:ext cx="58293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146,000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412480" y="1170432"/>
            <a:ext cx="731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783080" y="1792224"/>
            <a:ext cx="5303520" cy="47548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1783080" y="1792224"/>
            <a:ext cx="29169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783080" y="1792224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62,649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178040" y="1792224"/>
            <a:ext cx="731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42.9%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2697480" y="2414016"/>
            <a:ext cx="3474720" cy="475488"/>
          </a:xfrm>
          <a:prstGeom prst="rect">
            <a:avLst/>
          </a:prstGeom>
          <a:solidFill>
            <a:srgbClr val="1A6FAF"/>
          </a:solidFill>
          <a:ln cap="flat" cmpd="sng" w="12700">
            <a:solidFill>
              <a:srgbClr val="1A6F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2697480" y="2414016"/>
            <a:ext cx="191109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Category 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697480" y="2414016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20,826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263640" y="2414016"/>
            <a:ext cx="731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14.3%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788920" y="3035808"/>
            <a:ext cx="3291840" cy="475488"/>
          </a:xfrm>
          <a:prstGeom prst="rect">
            <a:avLst/>
          </a:prstGeom>
          <a:solidFill>
            <a:srgbClr val="1A6FAF"/>
          </a:solidFill>
          <a:ln cap="flat" cmpd="sng" w="12700">
            <a:solidFill>
              <a:srgbClr val="1A6F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2788920" y="3035808"/>
            <a:ext cx="1810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788920" y="3035808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20,693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172200" y="3035808"/>
            <a:ext cx="731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14.2%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743200" y="3657600"/>
            <a:ext cx="3383280" cy="475488"/>
          </a:xfrm>
          <a:prstGeom prst="rect">
            <a:avLst/>
          </a:prstGeom>
          <a:solidFill>
            <a:srgbClr val="1A6FAF"/>
          </a:solidFill>
          <a:ln cap="flat" cmpd="sng" w="12700">
            <a:solidFill>
              <a:srgbClr val="1A6F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2743200" y="3657600"/>
            <a:ext cx="18608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743200" y="3657600"/>
            <a:ext cx="25374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21,021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6217920" y="3657600"/>
            <a:ext cx="731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14.4%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766060" y="4279392"/>
            <a:ext cx="3337560" cy="47548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2766060" y="4279392"/>
            <a:ext cx="183565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Purchased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766060" y="4279392"/>
            <a:ext cx="250317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20,811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195060" y="4279392"/>
            <a:ext cx="731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14.2%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7086595" y="2313420"/>
            <a:ext cx="1691700" cy="12435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7150596" y="2414008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⚠ BIGGEST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DROP-OFF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7150596" y="3054071"/>
            <a:ext cx="164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43% of sessions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stop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11480" y="46908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Once past the product page, the funnel is remarkably healthy — Cart → Checkout → Purchase maintains ~99% retention.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27432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PRODUCT PAGE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Users Are Reading But Not Acting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274320" y="1170432"/>
            <a:ext cx="4114800" cy="22860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274320" y="137160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62,649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274320" y="22402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sessions ended on the product page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274320" y="26060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= 43% of ALL traffic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663440" y="1170432"/>
            <a:ext cx="420624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4709160" y="1261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📖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5212080" y="1243584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Users DO scroll — avg scroll depth is 85% across all sessions, meaning users read the product pages thoroughly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663440" y="1975104"/>
            <a:ext cx="420624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709160" y="20665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🖱️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212080" y="2048256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Only 17.2% of sessions add to cart — content is seen but not convincing enough to trigger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663440" y="2779776"/>
            <a:ext cx="420624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709160" y="28712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💭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212080" y="2852928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Hypothesis: lack of social proof, unclear CTA prominence, price hesitation without reviews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663440" y="3584448"/>
            <a:ext cx="420624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4709160" y="36758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212080" y="365760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Even a 5% improvement in product page → cart rate = ~3,000 additional orders annually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411480" y="46908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Priority Action: Optimizing the product page is the highest-leverage improvement available to the business right now.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27432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PURCHASE INTENT SIGNALS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'Buy Now' Click is the Strongest Predictor of Purchase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70432"/>
            <a:ext cx="45720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5120640" y="1170432"/>
            <a:ext cx="3749040" cy="146304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5120640" y="123444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2.75x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120640" y="20116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higher conversion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5120640" y="230428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for sessions with Buy Now click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5120640" y="2743200"/>
            <a:ext cx="3749040" cy="54864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5212080" y="27889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 Now Click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858000" y="27889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Strong Signal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212080" y="30358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2.75x conversion lift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120640" y="3401568"/>
            <a:ext cx="3749040" cy="54864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212080" y="344728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Scroll Depth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858000" y="344728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 No Signal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212080" y="369417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 difference (85% for all)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120640" y="4059936"/>
            <a:ext cx="3749040" cy="54864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5212080" y="410565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Device 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6858000" y="4105656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 No Signal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5212080" y="4352544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Desktop ≈ Mobile (7.69% vs 7.66%)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411480" y="46908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Use 'Buy Now' clickers who didn't purchase as a high-priority retargeting audience — they are your most valuable unconverted segment.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27432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CHANNEL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Paid Social: High Volume, Low Efficiency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274320" y="1170432"/>
            <a:ext cx="1828800" cy="34747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274320" y="117043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Channel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2103120" y="1170432"/>
            <a:ext cx="1280160" cy="34747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2103120" y="117043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Sessions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3383280" y="1170432"/>
            <a:ext cx="1280160" cy="34747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3383280" y="117043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Cart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663440" y="1170432"/>
            <a:ext cx="1280160" cy="34747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4663440" y="117043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Conv.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943600" y="1170432"/>
            <a:ext cx="1280160" cy="34747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5943600" y="117043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74320" y="1517904"/>
            <a:ext cx="182880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274320" y="151790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2103120" y="1517904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2103120" y="15179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11,298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3383280" y="1517904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3383280" y="15179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17.5%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663440" y="1517904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4663440" y="15179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7.99%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5943600" y="1517904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5943600" y="15179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274320" y="1920240"/>
            <a:ext cx="182880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274320" y="1920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2103120" y="1920240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2103120" y="19202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11,147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3383280" y="1920240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3383280" y="19202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17.5%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4663440" y="1920240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4663440" y="19202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7.83%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5943600" y="1920240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5943600" y="19202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274320" y="2322576"/>
            <a:ext cx="182880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274320" y="232257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Affiliate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2103120" y="2322576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2103120" y="232257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11,211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3383280" y="2322576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3383280" y="232257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17.3%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663440" y="2322576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4663440" y="232257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7.81%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943600" y="2322576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5943600" y="232257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274320" y="2724912"/>
            <a:ext cx="182880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274320" y="27249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2103120" y="2724912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2103120" y="272491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11,299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3383280" y="2724912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3383280" y="272491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17.2%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4663440" y="2724912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4663440" y="272491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7.76%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5943600" y="2724912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5943600" y="272491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274320" y="3127248"/>
            <a:ext cx="182880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274320" y="31272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2103120" y="3127248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2103120" y="312724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22,537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3383280" y="3127248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3383280" y="312724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17.2%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663440" y="3127248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4663440" y="312724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7.71%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5943600" y="3127248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5943600" y="312724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274320" y="3529584"/>
            <a:ext cx="182880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274320" y="352958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2103120" y="3529584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2103120" y="352958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11,397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3383280" y="3529584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3383280" y="352958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16.9%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663440" y="3529584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4663440" y="352958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7.59%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5943600" y="3529584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5943600" y="352958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274320" y="3931920"/>
            <a:ext cx="182880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274320" y="3931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Paid Social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2103120" y="3931920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2103120" y="39319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55,930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3383280" y="3931920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3383280" y="39319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17.2%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663440" y="3931920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4663440" y="39319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7.60%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5943600" y="3931920"/>
            <a:ext cx="1280160" cy="3657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5943600" y="39319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LOW 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274320" y="3931920"/>
            <a:ext cx="6949440" cy="365760"/>
          </a:xfrm>
          <a:prstGeom prst="rect">
            <a:avLst/>
          </a:prstGeom>
          <a:solidFill>
            <a:srgbClr val="2D1A0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274320" y="3931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Paid Social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2103120" y="39319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55,930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3383280" y="39319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17.2%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4663440" y="39319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7.60%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5943600" y="39319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LOW 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274320" y="4334256"/>
            <a:ext cx="182880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274320" y="433425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2103120" y="4334256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2103120" y="43342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11,181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3383280" y="4334256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3383280" y="43342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17.2%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4663440" y="4334256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4663440" y="43342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7.39%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5943600" y="4334256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5943600" y="43342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7406640" y="1170432"/>
            <a:ext cx="1417320" cy="35661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7406640" y="123444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FINDING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7406640" y="1828800"/>
            <a:ext cx="1417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Paid Social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drives 38%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traffic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but lowest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7406640" y="3200400"/>
            <a:ext cx="1417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SMS converts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2x more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efficiently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per session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411480" y="46908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Paid Social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traffic drive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is 5x larger than any other channel — yet delivers the worst conversion rate. Rebalancing toward SMS &amp; Affiliate could significantly improve ROI.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274320" y="90605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CHANNEL × PRODUCT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274320" y="352995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Single Channel Works Best for Every Product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274320" y="936235"/>
            <a:ext cx="8595300" cy="273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1920240" y="1170432"/>
            <a:ext cx="1024128" cy="50292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1920240" y="1170432"/>
            <a:ext cx="10241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Doorbell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2944368" y="1170432"/>
            <a:ext cx="1024128" cy="50292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2944368" y="1170432"/>
            <a:ext cx="10241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Stick 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Cam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3968496" y="1170432"/>
            <a:ext cx="1024128" cy="50292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3968496" y="1170432"/>
            <a:ext cx="10241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Alarm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992624" y="1170432"/>
            <a:ext cx="1024128" cy="50292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4992624" y="1170432"/>
            <a:ext cx="10241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Indoor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Cam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274320" y="1673352"/>
            <a:ext cx="1600200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274320" y="1673352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1920240" y="1673352"/>
            <a:ext cx="1024200" cy="4755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1920240" y="1673352"/>
            <a:ext cx="1024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8.31%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2944368" y="1673352"/>
            <a:ext cx="1024200" cy="4755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2944368" y="1673352"/>
            <a:ext cx="1024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7.87%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3968496" y="1673352"/>
            <a:ext cx="1024128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3968496" y="1673352"/>
            <a:ext cx="1024128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8.26%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4992624" y="1673352"/>
            <a:ext cx="1024128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4992624" y="1673352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7.52%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274320" y="2148840"/>
            <a:ext cx="1600200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274320" y="2148840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1920240" y="2148840"/>
            <a:ext cx="1024128" cy="47548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1920240" y="2148840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7.44%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2944368" y="2148840"/>
            <a:ext cx="1024128" cy="47548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2944368" y="2148840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8.33%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3968496" y="2148840"/>
            <a:ext cx="1024128" cy="47548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3968496" y="2148840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7.85%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4992624" y="2148840"/>
            <a:ext cx="1024128" cy="47548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4992624" y="2148840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7.43%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274320" y="2624328"/>
            <a:ext cx="1600200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274320" y="2624328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Affiliate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1920240" y="2624328"/>
            <a:ext cx="1024128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1920240" y="2624328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7.88%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2944368" y="2624328"/>
            <a:ext cx="1024128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2944368" y="2624328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7.40%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3968496" y="2624328"/>
            <a:ext cx="1024128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3968496" y="2624328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7.77%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4992624" y="2624328"/>
            <a:ext cx="1024128" cy="47548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4992624" y="2624328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8.22%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274320" y="3099816"/>
            <a:ext cx="1600200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274320" y="3099816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1920240" y="3099816"/>
            <a:ext cx="1024128" cy="47548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1920240" y="3099816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7.38%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2944368" y="3099816"/>
            <a:ext cx="1024128" cy="47548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2944368" y="3099816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7.83%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3968496" y="3099816"/>
            <a:ext cx="1024128" cy="47548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3968496" y="3099816"/>
            <a:ext cx="1024128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7.94%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4992624" y="3099816"/>
            <a:ext cx="1024128" cy="47548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4992624" y="3099816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8.17%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274320" y="3575304"/>
            <a:ext cx="1600200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274320" y="3575304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1920240" y="3575304"/>
            <a:ext cx="1024128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1920240" y="3575304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7.44%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2944368" y="3575304"/>
            <a:ext cx="1024128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2944368" y="3575304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7.54%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3968496" y="3575304"/>
            <a:ext cx="1024128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3968496" y="3575304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7.80%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4992624" y="3575304"/>
            <a:ext cx="1024128" cy="47548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4992624" y="3575304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8.05%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274320" y="4050792"/>
            <a:ext cx="1600200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274320" y="4050792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1920240" y="4050792"/>
            <a:ext cx="1024128" cy="47548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1920240" y="4050792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7.89%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2944368" y="4050792"/>
            <a:ext cx="1024128" cy="47548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2944368" y="4050792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7.34%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3968496" y="4050792"/>
            <a:ext cx="1024128" cy="47548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"/>
          <p:cNvSpPr/>
          <p:nvPr/>
        </p:nvSpPr>
        <p:spPr>
          <a:xfrm>
            <a:off x="3968496" y="4050792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7.11%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4992624" y="4050792"/>
            <a:ext cx="1024128" cy="47548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4992624" y="4050792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7.99%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274320" y="4526280"/>
            <a:ext cx="1600200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274320" y="4526280"/>
            <a:ext cx="1600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Paid Social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1920240" y="4526280"/>
            <a:ext cx="1024128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1920240" y="4526280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7.66%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2944368" y="4526280"/>
            <a:ext cx="1024128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2944368" y="4526280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7.48%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3968496" y="4526280"/>
            <a:ext cx="1024128" cy="47548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3968496" y="4526280"/>
            <a:ext cx="1024128" cy="475488"/>
          </a:xfrm>
          <a:prstGeom prst="rect">
            <a:avLst/>
          </a:prstGeom>
          <a:solidFill>
            <a:srgbClr val="1322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7.70%</a:t>
            </a:r>
            <a:endParaRPr b="0" i="0" sz="1100" u="none" cap="none" strike="noStrike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4992624" y="4526280"/>
            <a:ext cx="1024128" cy="475488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4992624" y="4526280"/>
            <a:ext cx="1024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7.55%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6321150" y="1342906"/>
            <a:ext cx="2548500" cy="36681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6460796" y="1489143"/>
            <a:ext cx="2271600" cy="3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Green = best performing channel per product. SMS wins for Video Doorbell &amp; Ring Alarm. Display for Stick Up Cam. Affiliate &amp; Internal for Indoor Cam.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27432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REVENUE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Concentrated in Two Products, Dependent on Discounts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3"/>
          <p:cNvSpPr/>
          <p:nvPr/>
        </p:nvSpPr>
        <p:spPr>
          <a:xfrm>
            <a:off x="5486400" y="117043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Discount Dependency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6" name="Google Shape;4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4960" y="1444752"/>
            <a:ext cx="347472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3"/>
          <p:cNvSpPr/>
          <p:nvPr/>
        </p:nvSpPr>
        <p:spPr>
          <a:xfrm>
            <a:off x="274320" y="3931920"/>
            <a:ext cx="1965960" cy="86868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274320" y="398678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$3.33M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274320" y="43708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2423160" y="3931920"/>
            <a:ext cx="1965960" cy="86868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2423160" y="398678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34K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2423160" y="43708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Units Sold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4572000" y="3931920"/>
            <a:ext cx="1965960" cy="86868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4572000" y="398678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$496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4572000" y="43708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Avg Order 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6720840" y="3931920"/>
            <a:ext cx="1965960" cy="86868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6720840" y="398678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67%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6720840" y="43708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Orders with Discount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411480" y="46908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67% discount dependency risks margin erosion. Video Doorbell &amp; Ring Alarm = 76% of revenue — over-reliance on two SKUs is a concentration risk.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1" name="Google Shape;48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225" y="1170425"/>
            <a:ext cx="4775101" cy="25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27432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Five Findings That Matter Most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274320" y="1170432"/>
            <a:ext cx="859536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4"/>
          <p:cNvSpPr/>
          <p:nvPr/>
        </p:nvSpPr>
        <p:spPr>
          <a:xfrm>
            <a:off x="274320" y="1170432"/>
            <a:ext cx="502920" cy="685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4"/>
          <p:cNvSpPr/>
          <p:nvPr/>
        </p:nvSpPr>
        <p:spPr>
          <a:xfrm>
            <a:off x="274320" y="1170432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914400" y="122529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Page is the #1 Conversion Bottleneck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914400" y="151790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43% of all sessions end on the product page. Users scroll 85% deep — they read the content, but only 17.2% take action. The issue is persuasion, not awareness.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274320" y="1938528"/>
            <a:ext cx="859536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4"/>
          <p:cNvSpPr/>
          <p:nvPr/>
        </p:nvSpPr>
        <p:spPr>
          <a:xfrm>
            <a:off x="274320" y="1938528"/>
            <a:ext cx="502920" cy="6858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274320" y="1938528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914400" y="199339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'Buy Now' Click = 2.75x Conversion Lift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914400" y="22860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Sessions with a Buy Now click convert at 13.47% vs 4.88% without. This is the most actionable behavioral signal in the data — scroll and device type show zero differentiation.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274320" y="2706624"/>
            <a:ext cx="859536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4"/>
          <p:cNvSpPr/>
          <p:nvPr/>
        </p:nvSpPr>
        <p:spPr>
          <a:xfrm>
            <a:off x="274320" y="2706624"/>
            <a:ext cx="502920" cy="6858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274320" y="2706624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914400" y="276148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Paid Social: Volume Without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914400" y="30540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Paid Social accounts for 38% of all traffic (55,930 sessions) but delivers the lowest conversion rate. SMS and Affiliate convert significantly better with far less spend.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274320" y="3474720"/>
            <a:ext cx="859536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274320" y="3474720"/>
            <a:ext cx="502920" cy="6858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4"/>
          <p:cNvSpPr/>
          <p:nvPr/>
        </p:nvSpPr>
        <p:spPr>
          <a:xfrm>
            <a:off x="274320" y="3474720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914400" y="352958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Product Has a Different Best Channel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914400" y="38221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SMS is best for Video Doorbell &amp; Ring Alarm. Display leads for Stick Up Cam. Affiliate &amp; Internal for Indoor Cam. A single channel strategy across all products wastes budget.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274320" y="4242816"/>
            <a:ext cx="859536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4"/>
          <p:cNvSpPr/>
          <p:nvPr/>
        </p:nvSpPr>
        <p:spPr>
          <a:xfrm>
            <a:off x="274320" y="4242816"/>
            <a:ext cx="502920" cy="6858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"/>
          <p:cNvSpPr/>
          <p:nvPr/>
        </p:nvSpPr>
        <p:spPr>
          <a:xfrm>
            <a:off x="274320" y="4242816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914400" y="429768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67% Discount Dependency = Margin 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914400" y="459028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Two-thirds of all orders require a discount to close. This suppresses margin and trains customers to wait for promotions rather than buying at full price.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5"/>
          <p:cNvSpPr/>
          <p:nvPr/>
        </p:nvSpPr>
        <p:spPr>
          <a:xfrm>
            <a:off x="27432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Five Actions to Drive Growth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5"/>
          <p:cNvSpPr/>
          <p:nvPr/>
        </p:nvSpPr>
        <p:spPr>
          <a:xfrm>
            <a:off x="274320" y="1170432"/>
            <a:ext cx="859536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5"/>
          <p:cNvSpPr/>
          <p:nvPr/>
        </p:nvSpPr>
        <p:spPr>
          <a:xfrm>
            <a:off x="274320" y="1170432"/>
            <a:ext cx="502920" cy="685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5"/>
          <p:cNvSpPr/>
          <p:nvPr/>
        </p:nvSpPr>
        <p:spPr>
          <a:xfrm>
            <a:off x="274320" y="1170432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R1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914400" y="1216152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Optimize the Product Page CTA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7406640" y="1243584"/>
            <a:ext cx="1371600" cy="25603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5"/>
          <p:cNvSpPr/>
          <p:nvPr/>
        </p:nvSpPr>
        <p:spPr>
          <a:xfrm>
            <a:off x="7406640" y="124358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HIGH PRIORITY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914400" y="149047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Add reviews, trust badges, urgency signals &amp; stronger Buy Now placement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6035040" y="149047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💰 5% improvement = ~3,000 extra orders/year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5"/>
          <p:cNvSpPr/>
          <p:nvPr/>
        </p:nvSpPr>
        <p:spPr>
          <a:xfrm>
            <a:off x="274320" y="1929384"/>
            <a:ext cx="859536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5"/>
          <p:cNvSpPr/>
          <p:nvPr/>
        </p:nvSpPr>
        <p:spPr>
          <a:xfrm>
            <a:off x="274320" y="1929384"/>
            <a:ext cx="502920" cy="6858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"/>
          <p:cNvSpPr/>
          <p:nvPr/>
        </p:nvSpPr>
        <p:spPr>
          <a:xfrm>
            <a:off x="274320" y="1929384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914400" y="1975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Retarget 'Buy Now' Clickers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7406640" y="2002536"/>
            <a:ext cx="1371600" cy="25603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7406640" y="200253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HIGH PRIORITY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914400" y="2249424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Build retargeting audience from Buy Now clickers who didn't purchase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6035040" y="224942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💰 Highest-intent unconverted segment — low cost, high return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274320" y="2688336"/>
            <a:ext cx="859536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"/>
          <p:cNvSpPr/>
          <p:nvPr/>
        </p:nvSpPr>
        <p:spPr>
          <a:xfrm>
            <a:off x="274320" y="2688336"/>
            <a:ext cx="502920" cy="6858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274320" y="2688336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R3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914400" y="2734056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Rebalance Channel Budget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7406640" y="2761488"/>
            <a:ext cx="1371600" cy="2560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5"/>
          <p:cNvSpPr/>
          <p:nvPr/>
        </p:nvSpPr>
        <p:spPr>
          <a:xfrm>
            <a:off x="7406640" y="276148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MED PRIORITY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914400" y="3008376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Shift spend from Paid Social toward SMS &amp; Affiliate (2x better efficiency)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6035040" y="3008376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💰 Same budget, significantly more conversions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274320" y="3447288"/>
            <a:ext cx="859536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274320" y="3447288"/>
            <a:ext cx="502920" cy="6858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274320" y="3447288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R4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914400" y="3493008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Product-Specific Channel Strategy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7406640" y="3520440"/>
            <a:ext cx="1371600" cy="2560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7406640" y="35204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MED PRIORITY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914400" y="376732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Run SMS for Doorbell/Alarm, Display for Stick Up Cam, Affiliate for Indoor Cam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6035040" y="376732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💰 Eliminate wasted spend from low-converting channel/product combos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5"/>
          <p:cNvSpPr/>
          <p:nvPr/>
        </p:nvSpPr>
        <p:spPr>
          <a:xfrm>
            <a:off x="274320" y="4206240"/>
            <a:ext cx="502920" cy="6858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5"/>
          <p:cNvSpPr/>
          <p:nvPr/>
        </p:nvSpPr>
        <p:spPr>
          <a:xfrm>
            <a:off x="274320" y="4206240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R5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914400" y="4251960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 Discount Dependency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7406640" y="4279392"/>
            <a:ext cx="1371600" cy="256032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5"/>
          <p:cNvSpPr/>
          <p:nvPr/>
        </p:nvSpPr>
        <p:spPr>
          <a:xfrm>
            <a:off x="7406640" y="42793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LOW PRIORITY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914400" y="452628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Test bundles, free accessories, and value messaging instead of flat % discounts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6035040" y="452628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💰 Protect margin on $3.33M revenue 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6"/>
          <p:cNvSpPr/>
          <p:nvPr/>
        </p:nvSpPr>
        <p:spPr>
          <a:xfrm>
            <a:off x="27432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to Do Next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274320" y="1170432"/>
            <a:ext cx="4206240" cy="10515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365760" y="12618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914400" y="124358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A/B Test Buy Now Button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914400" y="15544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Test placement, color, and copy of the Buy Now CTA on product pages. Measure impact on cart rate.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274320" y="2359152"/>
            <a:ext cx="4206240" cy="10515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6"/>
          <p:cNvSpPr/>
          <p:nvPr/>
        </p:nvSpPr>
        <p:spPr>
          <a:xfrm>
            <a:off x="365760" y="2450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914400" y="243230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Retargeting Audiences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914400" y="27432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Segment Buy Now clickers who didn't purchase as a priority retargeting group in paid channels.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4709160" y="1170432"/>
            <a:ext cx="4206240" cy="10515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4800600" y="12618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5349240" y="124358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Channel Efficiency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5349240" y="15544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Build a live dashboard tracking revenue per session by channel — not just conversion rate.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4709160" y="2359152"/>
            <a:ext cx="4206240" cy="105156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4800600" y="2450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5349240" y="243230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Organic SEO Audit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5349240" y="27432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Organic has the lowest conversion rate. Investigate whether traffic quality or landing page mismatch is the issue.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2286010" y="3511297"/>
            <a:ext cx="4206300" cy="105150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6"/>
          <p:cNvSpPr/>
          <p:nvPr/>
        </p:nvSpPr>
        <p:spPr>
          <a:xfrm>
            <a:off x="2286000" y="3621000"/>
            <a:ext cx="43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2719315" y="3662224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Price Sensitivity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2719315" y="4004945"/>
            <a:ext cx="347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Run experiments to understand how much of the 67% discount usage is driven by actual price sensitivity vs habit.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6"/>
          <p:cNvSpPr/>
          <p:nvPr/>
        </p:nvSpPr>
        <p:spPr>
          <a:xfrm>
            <a:off x="411480" y="46908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With more time: session-level attribution modeling, multi-touch channel analysis, and predictive churn scoring for the 89% non-purchasers.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7"/>
          <p:cNvSpPr/>
          <p:nvPr/>
        </p:nvSpPr>
        <p:spPr>
          <a:xfrm>
            <a:off x="457200" y="109728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7"/>
          <p:cNvSpPr/>
          <p:nvPr/>
        </p:nvSpPr>
        <p:spPr>
          <a:xfrm>
            <a:off x="457200" y="2057400"/>
            <a:ext cx="2743200" cy="45720"/>
          </a:xfrm>
          <a:prstGeom prst="rect">
            <a:avLst/>
          </a:prstGeom>
          <a:solidFill>
            <a:srgbClr val="00A8E8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7"/>
          <p:cNvSpPr/>
          <p:nvPr/>
        </p:nvSpPr>
        <p:spPr>
          <a:xfrm>
            <a:off x="457200" y="22402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Ring.com Digital Performance Analysis 2025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457200" y="2926080"/>
            <a:ext cx="1920240" cy="100584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7"/>
          <p:cNvSpPr/>
          <p:nvPr/>
        </p:nvSpPr>
        <p:spPr>
          <a:xfrm>
            <a:off x="457200" y="29718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146K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/>
          <p:nvPr/>
        </p:nvSpPr>
        <p:spPr>
          <a:xfrm>
            <a:off x="457200" y="34564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Sessions Analysed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2560320" y="2926080"/>
            <a:ext cx="1920240" cy="100584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7"/>
          <p:cNvSpPr/>
          <p:nvPr/>
        </p:nvSpPr>
        <p:spPr>
          <a:xfrm>
            <a:off x="2560320" y="29718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$3.33M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2560320" y="34564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4663440" y="2926080"/>
            <a:ext cx="1920240" cy="100584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7"/>
          <p:cNvSpPr/>
          <p:nvPr/>
        </p:nvSpPr>
        <p:spPr>
          <a:xfrm>
            <a:off x="4663440" y="29718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7"/>
          <p:cNvSpPr/>
          <p:nvPr/>
        </p:nvSpPr>
        <p:spPr>
          <a:xfrm>
            <a:off x="4663440" y="34564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7"/>
          <p:cNvSpPr/>
          <p:nvPr/>
        </p:nvSpPr>
        <p:spPr>
          <a:xfrm>
            <a:off x="6766560" y="2926080"/>
            <a:ext cx="1920240" cy="1005840"/>
          </a:xfrm>
          <a:prstGeom prst="rect">
            <a:avLst/>
          </a:prstGeom>
          <a:solidFill>
            <a:srgbClr val="132240"/>
          </a:solidFill>
          <a:ln cap="flat" cmpd="sng" w="12700">
            <a:solidFill>
              <a:srgbClr val="00A8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7"/>
          <p:cNvSpPr/>
          <p:nvPr/>
        </p:nvSpPr>
        <p:spPr>
          <a:xfrm>
            <a:off x="6766560" y="29718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E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6766560" y="34564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